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c36f6326554e55" /><Relationship Type="http://schemas.openxmlformats.org/officeDocument/2006/relationships/extended-properties" Target="/docProps/app.xml" Id="R9346f27af93d49ad" /><Relationship Type="http://schemas.openxmlformats.org/officeDocument/2006/relationships/officeDocument" Target="/ppt/presentation.xml" Id="Re4c1231cd4654b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a65d1ad4404edb"/>
  </p:sldMasterIdLst>
  <p:notesMasterIdLst>
    <p:notesMasterId xmlns:r="http://schemas.openxmlformats.org/officeDocument/2006/relationships" r:id="Rf9db5ffd87f5478b"/>
  </p:notesMasterIdLst>
  <p:sldIdLst>
    <p:sldId xmlns:r="http://schemas.openxmlformats.org/officeDocument/2006/relationships" id="256" r:id="R2b090d544d51433a"/>
    <p:sldId xmlns:r="http://schemas.openxmlformats.org/officeDocument/2006/relationships" id="257" r:id="Re8439b83847347df"/>
    <p:sldId xmlns:r="http://schemas.openxmlformats.org/officeDocument/2006/relationships" id="258" r:id="R13354e431ecb42de"/>
    <p:sldId xmlns:r="http://schemas.openxmlformats.org/officeDocument/2006/relationships" id="259" r:id="R91ac41866c7a4299"/>
    <p:sldId xmlns:r="http://schemas.openxmlformats.org/officeDocument/2006/relationships" id="260" r:id="R5cffd91bf9e844a4"/>
    <p:sldId xmlns:r="http://schemas.openxmlformats.org/officeDocument/2006/relationships" id="261" r:id="Ra00f98ca2d384256"/>
    <p:sldId xmlns:r="http://schemas.openxmlformats.org/officeDocument/2006/relationships" id="262" r:id="R20713ffca0e942d2"/>
    <p:sldId xmlns:r="http://schemas.openxmlformats.org/officeDocument/2006/relationships" id="263" r:id="R3b42ae1c3095434d"/>
    <p:sldId xmlns:r="http://schemas.openxmlformats.org/officeDocument/2006/relationships" id="264" r:id="R995832e280974e75"/>
    <p:sldId xmlns:r="http://schemas.openxmlformats.org/officeDocument/2006/relationships" id="265" r:id="R40cd938d30384b7e"/>
    <p:sldId xmlns:r="http://schemas.openxmlformats.org/officeDocument/2006/relationships" id="266" r:id="Rc6ac11bce2864bea"/>
    <p:sldId xmlns:r="http://schemas.openxmlformats.org/officeDocument/2006/relationships" id="267" r:id="Rd68bb28e26dc40b4"/>
    <p:sldId xmlns:r="http://schemas.openxmlformats.org/officeDocument/2006/relationships" id="268" r:id="R2ba92559e9f64906"/>
    <p:sldId xmlns:r="http://schemas.openxmlformats.org/officeDocument/2006/relationships" id="269" r:id="R24a2508a3d0540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95a93740a44d65" /><Relationship Type="http://schemas.openxmlformats.org/officeDocument/2006/relationships/slideMaster" Target="/ppt/slideMasters/slideMaster1.xml" Id="R81a65d1ad4404edb" /><Relationship Type="http://schemas.openxmlformats.org/officeDocument/2006/relationships/notesMaster" Target="/ppt/notesMasters/notesMaster1.xml" Id="Rf9db5ffd87f5478b" /><Relationship Type="http://schemas.openxmlformats.org/officeDocument/2006/relationships/presProps" Target="/ppt/presProps.xml" Id="R991369a27ea64858" /><Relationship Type="http://schemas.openxmlformats.org/officeDocument/2006/relationships/tableStyles" Target="/ppt/tableStyles.xml" Id="Rcbf40167b03d46b6" /><Relationship Type="http://schemas.openxmlformats.org/officeDocument/2006/relationships/slide" Target="/ppt/slides/slide1.xml" Id="R2b090d544d51433a" /><Relationship Type="http://schemas.openxmlformats.org/officeDocument/2006/relationships/slide" Target="/ppt/slides/slide2.xml" Id="Re8439b83847347df" /><Relationship Type="http://schemas.openxmlformats.org/officeDocument/2006/relationships/slide" Target="/ppt/slides/slide3.xml" Id="R13354e431ecb42de" /><Relationship Type="http://schemas.openxmlformats.org/officeDocument/2006/relationships/slide" Target="/ppt/slides/slide4.xml" Id="R91ac41866c7a4299" /><Relationship Type="http://schemas.openxmlformats.org/officeDocument/2006/relationships/slide" Target="/ppt/slides/slide5.xml" Id="R5cffd91bf9e844a4" /><Relationship Type="http://schemas.openxmlformats.org/officeDocument/2006/relationships/slide" Target="/ppt/slides/slide6.xml" Id="Ra00f98ca2d384256" /><Relationship Type="http://schemas.openxmlformats.org/officeDocument/2006/relationships/slide" Target="/ppt/slides/slide7.xml" Id="R20713ffca0e942d2" /><Relationship Type="http://schemas.openxmlformats.org/officeDocument/2006/relationships/slide" Target="/ppt/slides/slide8.xml" Id="R3b42ae1c3095434d" /><Relationship Type="http://schemas.openxmlformats.org/officeDocument/2006/relationships/slide" Target="/ppt/slides/slide9.xml" Id="R995832e280974e75" /><Relationship Type="http://schemas.openxmlformats.org/officeDocument/2006/relationships/slide" Target="/ppt/slides/slide10.xml" Id="R40cd938d30384b7e" /><Relationship Type="http://schemas.openxmlformats.org/officeDocument/2006/relationships/slide" Target="/ppt/slides/slide11.xml" Id="Rc6ac11bce2864bea" /><Relationship Type="http://schemas.openxmlformats.org/officeDocument/2006/relationships/slide" Target="/ppt/slides/slide12.xml" Id="Rd68bb28e26dc40b4" /><Relationship Type="http://schemas.openxmlformats.org/officeDocument/2006/relationships/slide" Target="/ppt/slides/slide13.xml" Id="R2ba92559e9f64906" /><Relationship Type="http://schemas.openxmlformats.org/officeDocument/2006/relationships/slide" Target="/ppt/slides/slide14.xml" Id="R24a2508a3d0540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b4c62e11bf4e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4271ea0c444f08" /><Relationship Type="http://schemas.openxmlformats.org/officeDocument/2006/relationships/notesMaster" Target="/ppt/notesMasters/notesMaster1.xml" Id="R119342c2058444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d0e7c64d384af1" /><Relationship Type="http://schemas.openxmlformats.org/officeDocument/2006/relationships/notesMaster" Target="/ppt/notesMasters/notesMaster1.xml" Id="R44514d58a8844a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642db8721e4241" /><Relationship Type="http://schemas.openxmlformats.org/officeDocument/2006/relationships/notesMaster" Target="/ppt/notesMasters/notesMaster1.xml" Id="R97c9d5ec871441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0b86ec74f74b5f" /><Relationship Type="http://schemas.openxmlformats.org/officeDocument/2006/relationships/notesMaster" Target="/ppt/notesMasters/notesMaster1.xml" Id="R009bf482a8fd46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b60e127b134e87" /><Relationship Type="http://schemas.openxmlformats.org/officeDocument/2006/relationships/notesMaster" Target="/ppt/notesMasters/notesMaster1.xml" Id="Re7015ced79af4f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54da522f834e63" /><Relationship Type="http://schemas.openxmlformats.org/officeDocument/2006/relationships/notesMaster" Target="/ppt/notesMasters/notesMaster1.xml" Id="R6aef6f957d0b4f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1d00d74b064734" /><Relationship Type="http://schemas.openxmlformats.org/officeDocument/2006/relationships/notesMaster" Target="/ppt/notesMasters/notesMaster1.xml" Id="R5bcd094abe3845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d882fad2724495" /><Relationship Type="http://schemas.openxmlformats.org/officeDocument/2006/relationships/notesMaster" Target="/ppt/notesMasters/notesMaster1.xml" Id="Rd61e3bfca73541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1816a5b34c4060" /><Relationship Type="http://schemas.openxmlformats.org/officeDocument/2006/relationships/notesMaster" Target="/ppt/notesMasters/notesMaster1.xml" Id="Rdfa57d27990546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7e86f53d75485c" /><Relationship Type="http://schemas.openxmlformats.org/officeDocument/2006/relationships/notesMaster" Target="/ppt/notesMasters/notesMaster1.xml" Id="R1ce2130d5c4b41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8ea4a7fb194e89" /><Relationship Type="http://schemas.openxmlformats.org/officeDocument/2006/relationships/notesMaster" Target="/ppt/notesMasters/notesMaster1.xml" Id="R5d51b1df9b2347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26f2cec24f49d0" /><Relationship Type="http://schemas.openxmlformats.org/officeDocument/2006/relationships/notesMaster" Target="/ppt/notesMasters/notesMaster1.xml" Id="R7b02c175667746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ff35c271a8403b" /><Relationship Type="http://schemas.openxmlformats.org/officeDocument/2006/relationships/notesMaster" Target="/ppt/notesMasters/notesMaster1.xml" Id="R46446e2cfc564e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06ee1a422b4235" /><Relationship Type="http://schemas.openxmlformats.org/officeDocument/2006/relationships/notesMaster" Target="/ppt/notesMasters/notesMaster1.xml" Id="R70b23a853fbc4e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586e46f0f4e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7cba71e1a343c1" /><Relationship Type="http://schemas.openxmlformats.org/officeDocument/2006/relationships/slideLayout" Target="/ppt/slideLayouts/slideLayout1.xml" Id="R8ed619fad5d343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d619fad5d343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0123f200e46c3" /><Relationship Type="http://schemas.openxmlformats.org/officeDocument/2006/relationships/notesSlide" Target="/ppt/notesSlides/notesSlide1.xml" Id="Rc65a4d21329c47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3468796644c30" /><Relationship Type="http://schemas.openxmlformats.org/officeDocument/2006/relationships/notesSlide" Target="/ppt/notesSlides/notesSlide2.xml" Id="Ra31a88b2961445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44965f92748a5" /><Relationship Type="http://schemas.openxmlformats.org/officeDocument/2006/relationships/notesSlide" Target="/ppt/notesSlides/notesSlide3.xml" Id="R9c292476169543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3bb4e337c4248" /><Relationship Type="http://schemas.openxmlformats.org/officeDocument/2006/relationships/notesSlide" Target="/ppt/notesSlides/notesSlide4.xml" Id="Rb17afed910b446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86f504c07447b" /><Relationship Type="http://schemas.openxmlformats.org/officeDocument/2006/relationships/notesSlide" Target="/ppt/notesSlides/notesSlide5.xml" Id="Rb36bd6741c444a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7f352afdd4c7d" /><Relationship Type="http://schemas.openxmlformats.org/officeDocument/2006/relationships/notesSlide" Target="/ppt/notesSlides/notesSlide6.xml" Id="R7e913165c20f4d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b7d88e54c4526" /><Relationship Type="http://schemas.openxmlformats.org/officeDocument/2006/relationships/notesSlide" Target="/ppt/notesSlides/notesSlide7.xml" Id="R5dbad32499a247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7ecb8ddb24c25" /><Relationship Type="http://schemas.openxmlformats.org/officeDocument/2006/relationships/notesSlide" Target="/ppt/notesSlides/notesSlide8.xml" Id="R238c1def15994a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d2f389eee44fa" /><Relationship Type="http://schemas.openxmlformats.org/officeDocument/2006/relationships/notesSlide" Target="/ppt/notesSlides/notesSlide9.xml" Id="Re651f591301c42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d5e7ea40043be" /><Relationship Type="http://schemas.openxmlformats.org/officeDocument/2006/relationships/notesSlide" Target="/ppt/notesSlides/notesSlide10.xml" Id="R366822900dc741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935044b574116" /><Relationship Type="http://schemas.openxmlformats.org/officeDocument/2006/relationships/notesSlide" Target="/ppt/notesSlides/notesSlide11.xml" Id="R544f86c0691049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8d497d7e94e44" /><Relationship Type="http://schemas.openxmlformats.org/officeDocument/2006/relationships/notesSlide" Target="/ppt/notesSlides/notesSlide12.xml" Id="R1cc359f39c0340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932b71d144d0f" /><Relationship Type="http://schemas.openxmlformats.org/officeDocument/2006/relationships/notesSlide" Target="/ppt/notesSlides/notesSlide13.xml" Id="Ra8d208d62afc4d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96915f81c49dc" /><Relationship Type="http://schemas.openxmlformats.org/officeDocument/2006/relationships/notesSlide" Target="/ppt/notesSlides/notesSlide14.xml" Id="R9eddd40d74d74f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482E18-5F50-4039-95D5-8C7AE4DB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Introducción a la Bioinformática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C7C4D-5C62-44BE-A25A-74CD6B70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TP final: análisis de papers bioinformáticos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965F8-4EF3-45B5-8290-9A85D964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33875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Una CLI que toma PDFs o DOI y genera una salida estructurada con evidencia biológica enriquecida.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EF737-0F42-40AF-BCB5-79916C80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007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Grupo 2 · Acosta, Fuentes, Agüero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87908-A06E-4F0B-BE92-E596BAE3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00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UNQ · 1S 2026</a:t>
            </a:r>
          </a:p>
        </p:txBody>
      </p:sp>
    </p:spTree>
    <p:extLst>
      <p:ext uri="{BB962C8B-B14F-4D97-AF65-F5344CB8AC3E}">
        <p14:creationId xmlns:p14="http://schemas.microsoft.com/office/powerpoint/2010/main" val="34283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99B6E8-5B64-482E-A282-37D23DC6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TP parte de una tarea manual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E1794-6988-4787-AAF1-65736F6C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Leer un paper implica identificar datos y conectarlos con bases bioinformáticas.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1A8EB-A1E4-4404-9ADE-4FDBFB15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45CBD-074F-49C2-A63A-0242654D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68CEF-CF56-49DD-B385-482721CE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21FE8-ED44-4513-8114-92818E6B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03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Lectura del paper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E4C62-9BB5-4A80-AB2A-6A9FE394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29718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Primero se reconoce qué artículo es, qué organismo estudia y qué entidades biológicas o químicas menciona.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FA59B-2F03-476A-869E-BD2CDA8D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7314E-E516-4294-A022-088EF630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03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Consulta externa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6D5A7-4852-4E0B-B77C-FDBE0669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29718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Después se buscan datos que el paper no siempre trae explícitos, como identificadores, propiedades químicas o secuencias.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AE202-7C92-4C11-BE85-7B82F903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1907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6658C-38D7-4B07-AF7C-329CBC9A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003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Salida revisable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C2D4B-DEE4-43B4-9E9C-96203D3A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57500"/>
            <a:ext cx="29718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El TP automatiza ese recorrido y lo guarda en un JSON para comparar resultados entre artículos.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37633-2AD2-4A0B-A880-1BBB40CE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340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herramienta prepara una primera lectura estructurada; la interpretación final sigue siendo biológica.</a:t>
            </a:r>
          </a:p>
        </p:txBody>
      </p:sp>
    </p:spTree>
    <p:extLst>
      <p:ext uri="{BB962C8B-B14F-4D97-AF65-F5344CB8AC3E}">
        <p14:creationId xmlns:p14="http://schemas.microsoft.com/office/powerpoint/2010/main" val="606418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EF3EC1-0F25-4ED4-87E7-1CC0C26D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Objetivo del TP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55BF7-73FE-41A7-A108-88CCEF3E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Construir un flujo reproducible para pasar de bibliografía científica a datos consultables.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64CFF-C528-4483-8F66-66183EAE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99CFE-9902-4880-85D4-5DC36B34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B7405-8E48-4840-ADA7-A044694B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431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Objetivo general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C9B98-BC29-417B-843E-37E09735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19375"/>
            <a:ext cx="771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Procesar artículos científicos y generar una salida estructurada con la información principal del trabajo: datos bibliográficos, organismos, proteínas, compuestos químicos y relaciones de homología.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2EA91-EDDA-423D-A9CD-817A9AAB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957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Objetivos específicos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7A544-1C62-47A4-8575-CF7CB843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0"/>
            <a:ext cx="7429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Aceptar PDF, carpeta de PDFs o DOI.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Extraer entidades relevantes desde el texto.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Completar información con bases externas.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Guardar resultados comparables en JSON.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11462-667C-490E-ACBE-6735B923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0DB3F-A32D-4338-B7A0-EAB40F5C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193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Idea central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F5A35-34E9-4C46-9C9B-5BC503C2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952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Pasar de texto científico no estructurado a datos ordenados que se puedan revisar y reutilizar.</a:t>
            </a:r>
          </a:p>
        </p:txBody>
      </p:sp>
    </p:spTree>
    <p:extLst>
      <p:ext uri="{BB962C8B-B14F-4D97-AF65-F5344CB8AC3E}">
        <p14:creationId xmlns:p14="http://schemas.microsoft.com/office/powerpoint/2010/main" val="1180635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CDE67A-EE47-4CBE-BA25-832AF3F5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Qué información queremos obtener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302E8-E83E-4822-82C9-B9409A1A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La salida combina datos leídos del paper con datos consultados en bases bioinformáticas.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ABD68-0E9E-4372-BC36-37346A33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F4AB2-D300-49F1-915B-43FBAF4B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8AA8E-82BF-4E56-B624-61B28F8F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43125"/>
            <a:ext cx="2571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CD039-C7D9-4BD8-9862-527F06E8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526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Bibliografía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91E10-44A7-4AC1-8EF7-AB21B900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2114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Datos para identificar la fuente: DOI, título, autores, revista y año.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DD63A-42BE-4751-BE8E-98697060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2571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118C8-9385-4F70-907F-01110698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526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Biología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7F249-54CB-46EA-9974-E36AC6FA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09875"/>
            <a:ext cx="2114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Organismo estudiado y proteínas mencionadas. Después se validan con una base de proteínas.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522AA-B0E4-4084-8863-E50E9ED0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43125"/>
            <a:ext cx="2571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FAB31-BC7A-4F3D-BABC-7019DA6E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526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Química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3C13D-99F0-4247-B5E6-388C6DCD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09875"/>
            <a:ext cx="2114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Compuestos nombrados en el paper y propiedades como estructura en texto o comportamiento lipofílico.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4F29F-EA0F-4272-844D-B0ABC524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43125"/>
            <a:ext cx="2571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C49BC-7DC4-4292-8F95-A7172D1D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526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34368-0A91-44CA-81D2-3EDB6A7A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9875"/>
            <a:ext cx="2114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Similitud entre una proteína del artículo y proteínas humanas para encontrar posibles homólogos.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35D45-64FF-485A-B231-545C9241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911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Primero se detectan entidades en el texto; después se completan con fuentes específicas según el tipo de dato.</a:t>
            </a:r>
          </a:p>
        </p:txBody>
      </p:sp>
    </p:spTree>
    <p:extLst>
      <p:ext uri="{BB962C8B-B14F-4D97-AF65-F5344CB8AC3E}">
        <p14:creationId xmlns:p14="http://schemas.microsoft.com/office/powerpoint/2010/main" val="4642198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7F6EA2-37D5-4E73-AD6A-02E9FC68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Proteínas, organismos y candidatos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067E3-A3D8-42E0-B60E-600AE9D8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Una proteína detectada en texto necesita contexto para interpretarse correctamente.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3C41D-9A28-44DD-97F5-41803433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61489-13CA-4ADC-B741-5B840761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CBCC9-7517-4A63-AEBD-3638A04B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3429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DC938-9236-44F9-962C-ECD97D0E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03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Proteína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CD94B-F779-4CCF-ADD3-52339FD3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29718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Es una molécula biológica formada por aminoácidos. En un paper puede aparecer como nombre completo, sigla o familia.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D6BD6-D640-486C-9835-4620693E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6D889-2F33-4B8F-B3DA-0262F0FF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03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Organismo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8C505-FA24-45B7-B44E-99DA788F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29718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Indica de qué especie proviene la proteína o en qué especie se estudia el fenómeno. Es clave para consultar UniProt.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5FF7F-E311-4027-AE4F-98B8D667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190750"/>
            <a:ext cx="3429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EE0AB-124D-4CC0-9E79-5447C63D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003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Candidato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8C3D5-D605-4986-A840-848DB896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57500"/>
            <a:ext cx="29718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Es una entidad detectada en el texto que todavía no está confirmada. El sistema la rankea antes de consultarla.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9EB7C-9D0F-4667-82DF-0E8F3F4B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911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Por eso el pipeline no acepta automáticamente cada palabra: primero decide si parece una proteína útil y si coincide con el organismo del artículo.</a:t>
            </a:r>
          </a:p>
        </p:txBody>
      </p:sp>
    </p:spTree>
    <p:extLst>
      <p:ext uri="{BB962C8B-B14F-4D97-AF65-F5344CB8AC3E}">
        <p14:creationId xmlns:p14="http://schemas.microsoft.com/office/powerpoint/2010/main" val="18810632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A27158-1C3C-4BE7-B5D1-0D1179DB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Agrotóxicos y propiedades químicas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4727B-E2D5-418E-82F2-AC96CA28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Son compuestos usados en agricultura para controlar organismos no deseados.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CDE1D-6B64-451A-8C81-FA0BA410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D203D-095D-4049-83C1-A1A0541E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92D68-87F2-436C-A5A0-E5B7BF6E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3429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43980-022B-4FCD-B4B0-A02B7112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03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Agrotóxicos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DA428-79DA-4F27-BABF-151F6D1E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29718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Incluyen herbicidas, insecticidas, fungicidas y otros pesticidas. El parser intenta reconocerlos por nombre.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98F1B-2EBA-4CAC-BB50-673F6ED3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AC108-C202-47DF-A85E-C7808F19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03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PubChem / PUG 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35495-8091-4B4A-8A4F-A37D60D5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29718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PubChem es una base pública de compuestos. PUG REST es la API web que permite pedir propiedades por nombre.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FD732-E15A-4054-9C78-63AC5416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190750"/>
            <a:ext cx="3429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B3028-655C-481C-88FE-79E0CCC1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003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SMILES y LogP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C1622-2C7F-489D-8307-24FC4DE9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57500"/>
            <a:ext cx="29718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SMILES escribe la estructura química como texto. LogP estima si el compuesto tiende más a fase grasa o acuosa.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950D3-6327-4F58-8196-4336C2FF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911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Así pasamos de mencionar un compuesto en el paper a tener propiedades químicas útiles para describirlo.</a:t>
            </a:r>
          </a:p>
        </p:txBody>
      </p:sp>
    </p:spTree>
    <p:extLst>
      <p:ext uri="{BB962C8B-B14F-4D97-AF65-F5344CB8AC3E}">
        <p14:creationId xmlns:p14="http://schemas.microsoft.com/office/powerpoint/2010/main" val="1154383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2D5DA5-BD6A-4955-B56E-5ABF9B10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Homólogos humanos y BLASTp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E921C-5967-48C7-AA4C-C00E7A3F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Comparamos proteínas para encontrar similitudes entre organismos.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94990-668E-4B97-97B1-5C72B023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B0805-B97E-4056-8B04-C799E9B7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5880E-2439-43F2-88C2-04663E51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3429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B1D1F-319D-4203-87BF-5AF27145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03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Homólogo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C00BF-BA6E-4940-81DD-8DC402CB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29718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Una proteína homóloga es parecida a otra porque puede compartir origen evolutivo o conservar regiones de secuencia.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ED8A1-1555-4F2F-A45E-55B795BA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D1B5B-BABB-406A-ABEC-38471038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03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BLASTp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CD4DA-DB8B-49BA-8778-A5F22367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29718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BLASTp compara una secuencia de aminoácidos contra una base de proteínas y devuelve las más similares.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C5FE4-52B1-44A0-977D-B5E326E8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190750"/>
            <a:ext cx="3429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CCB91-B9DE-4468-8640-5CE1E23D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003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Resultado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57709-205C-4975-9E00-20F07666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57500"/>
            <a:ext cx="29718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Guardamos proteínas humanas parecidas, porcentaje de identidad/similitud y e-value, que resume la fuerza del hit.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4046B-DD1B-4D15-A7FD-215E5E91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911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Este paso no dice automáticamente que cumplen la misma función; sirve como pista para revisar posibles relaciones.</a:t>
            </a:r>
          </a:p>
        </p:txBody>
      </p:sp>
    </p:spTree>
    <p:extLst>
      <p:ext uri="{BB962C8B-B14F-4D97-AF65-F5344CB8AC3E}">
        <p14:creationId xmlns:p14="http://schemas.microsoft.com/office/powerpoint/2010/main" val="847887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4ADEF9-400E-42CF-AEC3-234CA234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 dónde sale cada dato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C64B0-8D6C-43C4-B19D-01630AD1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No toda la información proviene del mismo lugar.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7715B-F3C6-4F3C-828D-B86FE4E7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214B6-9290-42D1-B5D3-A53916B9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C4E0F-7E04-4434-B92A-5BDFFAB3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87353-6562-4132-A5C9-F86D5326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431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4FC49-E304-41F2-A171-1EA62F5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764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900C4-6F8C-46E2-85B8-D6F98813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14312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Sale del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0E903-9980-4402-9933-3D170818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0764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5D58B-4643-433C-BD47-0029FC86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14312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 completa con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BB066-8E07-4101-B265-5A7463C5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272CE-4B64-4BD9-B96D-06242DC2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73367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DOI y título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CB600-CADC-454F-8E4D-B3FDBE0B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6670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5A6E9-FE2B-48B2-9F22-FB240E8D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73367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Texto del PDF o DOI de entrada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AC1CA-35A6-403F-A286-9C692B41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670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D937D-0C60-4405-9952-EFF8AA7A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73367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Crossref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4A9F0-7744-475D-84C3-74826E25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575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04FC1-3CC7-4066-8D32-E85446CE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3242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Organismo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98EF8-2836-48D0-8401-B04ABA4B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575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C2B84-B101-4A4D-8228-D714717F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2422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Texto del artículo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E7802-6169-4CF7-9D76-C8AB3BD8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575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6F934D-6FD5-4837-ABE5-91F0CA36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2422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Filtros internos de candidatos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0ADB94-E73B-45E4-9B4D-6D348308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481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E40A5B-C419-4AFB-BA91-BCA7EA9E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91477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Proteína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01EC95-A56F-4D3B-82B2-989E772E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8481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CBE648-29AE-4764-AFEA-5640AB76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91477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Texto del artículo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6D1F30-1FB7-4234-90E1-B19B385D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8481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D68CB5-1241-4CA1-9575-EC0310D1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91477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UniProt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3B3BFA-6DF0-4B93-AF86-90E031D7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386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5B0AAB-22BA-422B-82C9-A1663FC9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053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Agrotóxico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8B8B61-9154-41A3-9ADC-A08E6B9A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4386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70BBE4-6E30-4DA6-A87F-F2EDD846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50532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Texto del artículo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A74968-29A9-4EEB-BC9C-A1ACEE44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4386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E08776-EDC5-4E38-968D-587267B1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50532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PubChem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6FEB1F-F417-4375-BF05-DC67C66B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292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0EBE80-05A2-4706-9E31-DDE1CD90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09587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Homólogo humano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01E24F-7221-4D9C-8459-749CB088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0292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549FED-1D72-400B-BB8A-821E1503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09587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Secuencia de proteína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E2BB82-3B3B-445C-A5DB-6C70A89B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0292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98F7DD-3C44-4997-A21B-B6F7EC9B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09587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BLASTp contra base humana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8672FB-A49B-4EE2-9CB9-175D61CA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531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JSON final mezcla estas fuentes, pero conserva el sentido de cada sección para que pueda revisarse.</a:t>
            </a:r>
          </a:p>
        </p:txBody>
      </p:sp>
    </p:spTree>
    <p:extLst>
      <p:ext uri="{BB962C8B-B14F-4D97-AF65-F5344CB8AC3E}">
        <p14:creationId xmlns:p14="http://schemas.microsoft.com/office/powerpoint/2010/main" val="1883455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B8A839-FC2C-472F-B1CB-890F42CB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Arquitectura: vista general del flujo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9A322-5091-40E3-A26B-4A6FAD7C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La entrada puede cambiar, pero el pipeline mantiene la misma estructura.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82EDD-F85C-4D07-95AC-56560EA2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670F2-33E5-4318-9DAB-0B8E7DC5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CDF5F-E745-47C0-9053-22C45EEF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381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B2558-94C1-400D-9517-3410A0CA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1906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PDF / DOI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carpeta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06932-774B-4F27-9860-D505E9E5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219450"/>
            <a:ext cx="7810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4F193-C829-448C-B2A0-114A891F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14625"/>
            <a:ext cx="1381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53736-D28C-4C20-A0FB-4AC57516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57500"/>
            <a:ext cx="11906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Parser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extrae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señales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6E66C-8A39-4A57-8315-00F9B307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7810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10CD9-FD73-4E9B-8266-30243827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14625"/>
            <a:ext cx="1524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AFA41-1A06-4EBB-A722-4A4EB1A9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57500"/>
            <a:ext cx="1333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Candidatos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filtra y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prioriza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18A08-0480-4F79-9180-63784D99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7810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975E8-A33A-43E0-AEC1-3C3729C1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14625"/>
            <a:ext cx="1524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6409CA-6505-4AFC-9B79-970CEAE0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57500"/>
            <a:ext cx="1333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Servicios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completan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927EF-45D0-443C-8CEE-3572F7A5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19450"/>
            <a:ext cx="7810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44668-5535-404E-9441-73919D6C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14625"/>
            <a:ext cx="1381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9AE55-E10A-44C7-A810-90419E97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57500"/>
            <a:ext cx="11906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Salida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JSON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BDFFF-F6A3-44A2-9BA5-AA2F5EB7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La arquitectura separa extracción, decisión y enriquecimiento para evitar que todo dependa de un único paso.</a:t>
            </a:r>
          </a:p>
        </p:txBody>
      </p:sp>
    </p:spTree>
    <p:extLst>
      <p:ext uri="{BB962C8B-B14F-4D97-AF65-F5344CB8AC3E}">
        <p14:creationId xmlns:p14="http://schemas.microsoft.com/office/powerpoint/2010/main" val="2522666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C9108E-48E1-470F-B605-86F20E94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Qué hace cada módulo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B97AC-D1BB-4CDE-A405-2342A3A5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Cada módulo tiene una responsabilidad concreta dentro del pipeline.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87E56-6572-4B68-9C03-54101AB4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D18A9-EFEA-48B2-9D72-95EDCE91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34D96-5F72-4649-9FBE-10789B5E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FF07A-E89E-4065-98A3-C759FBE9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43125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Módulo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90D20-9A79-451F-B210-DD940FB9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764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35801-595E-4EA1-989F-43F57A33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143125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Responsabilidad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61FAA-EAFE-450B-83F9-E923E2EE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764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F35BC-5F2E-4963-8AC8-8BC4A4B9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143125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Por qué importa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D7556-86F8-40D0-807E-36EFA762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EB4D2-1101-4BEB-A008-EDBBC0F5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733675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app.py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99D9D-D4B6-4261-9B01-208062B4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6670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50E71-F44D-4119-9FFA-7712E434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33675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CLI, entrada, coordinación y guardado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C4F66-4422-4956-B8B6-89E72C75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66700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F4B91-CDF3-481E-AC65-691E51A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33675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Une todas las partes del flujo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0790E-15DF-46F8-8608-7263386D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575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907E9-5B2A-49BB-8BBE-C50F0A80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324225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pdf_parser.py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21B3D-1718-4A53-B44C-77DC69DE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2575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7B34A-7664-4014-B3A4-DCD063E4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324225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Extrae señales desde el PDF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AF5BB-B59F-4D2E-AB66-1613DE50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2575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3A1F39-AE92-4ECA-93F4-A30ABC6D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324225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Convierte texto en candidatos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6DF7D2-659C-4A4C-9017-6293B77E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481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4F25DB-F52B-43EE-AC61-994A3851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914775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candidatos_articulo.py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ABD1FF-64FA-46E6-ADE9-4892FA7A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8481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7A93AE-D209-4C02-8661-7C20AC20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914775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Rankea y filtra entidades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8073B8-C414-4C6C-92AD-05E0007D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84810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2AD2B-C52F-4F4C-AC96-C2FBC241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914775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Reduce falsos positivos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F1B6C1-9734-45DA-A044-5C35C5D1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386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72AB97-FDDD-4E48-B7E5-F298B6D7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05325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services/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DDB285-5854-4318-B438-2E7716AD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4386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8E6476-7D79-4344-A713-37A0F2B0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505325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Consulta bases externas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74C690-15AE-4FF0-8F58-F2D30FA1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4386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7333A1-5532-49DD-AC08-F34E5D9C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505325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Completa datos biológicos/químicos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D5E7E2-93E9-44D2-8735-304A4DE2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292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8D4826-C74B-4F28-9169-BC1BACA5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095875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models/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718956-4B75-4313-AF7F-E0BCDCD7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0292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FDEB03-A536-4A91-A038-7955FBCA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095875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Define la estructura de salida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46C007-948A-4DF5-951B-FFA8265B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02920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DEF10E-980C-4FFB-AE8D-82D6639C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095875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Mantiene el JSON consistente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CE1349-B708-4486-86F2-3B6B9769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531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Esta división también facilita testear partes del sistema con mocks sin depender siempre de internet.</a:t>
            </a:r>
          </a:p>
        </p:txBody>
      </p:sp>
    </p:spTree>
    <p:extLst>
      <p:ext uri="{BB962C8B-B14F-4D97-AF65-F5344CB8AC3E}">
        <p14:creationId xmlns:p14="http://schemas.microsoft.com/office/powerpoint/2010/main" val="6055027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F453D7-0F0C-448A-9C21-146B9ADD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Servicios externos: qué aporta cada uno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622AC-C569-4737-9638-A44A11E3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Los servicios completan información a partir de DOI, nombres candidatos o secuencias.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F1B8A-2144-4373-92CE-CE12CEAD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28089-5BE5-4F69-9B69-BBA0522C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0A4F6-91A7-439A-99FF-9B40300C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43125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36005-26AD-4B3A-8450-8D98BD4F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20980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Servicio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55D56-43D1-4924-A3E5-C78F711D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143125"/>
            <a:ext cx="476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B0951-E33E-4898-AF9F-AE7D4362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209800"/>
            <a:ext cx="453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Entrada que recibe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99423-B4F5-4533-8604-FC857CB7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43125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5C274-1304-4D4D-A65C-DAA3DC9F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209800"/>
            <a:ext cx="4248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Dato que devuelve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90D7E-A1BA-4B34-8ACE-29758CF4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28925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83772-68A8-4B50-AAE3-C7168E9D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89560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Crossref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22288-FD0D-4809-85EE-5C2C96F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28925"/>
            <a:ext cx="476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DE04B-D0D8-4AF8-979B-1CE55631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95600"/>
            <a:ext cx="453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DOI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27281-79DE-48D4-ACFB-C12EA761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28925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6B2B4-CE6B-4B77-8CAC-76939BA3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895600"/>
            <a:ext cx="4248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metadatos del artículo y links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B41F3-D2C7-447E-8B3F-FD1A8A81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14725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C39295-DF1B-4CAC-9D17-AEE218A6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58140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UniProt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73553-98D9-4DAC-90F6-A27868C6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514725"/>
            <a:ext cx="476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1004B-F41D-4F1D-8DB1-A82458E8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581400"/>
            <a:ext cx="453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nombre de proteína + organismo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F3CE5-7ABF-47E7-8A3F-29452747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514725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89E1D2-F0EB-4AE2-901B-4F23E01A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581400"/>
            <a:ext cx="4248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accession, organismo, función y secuencia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56F2BF-F036-4921-A48D-6415F6DB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00525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96A68-D966-4815-A423-1080A5A0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6720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PubChem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667278-3471-4FB5-B57D-05EF0A5C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00525"/>
            <a:ext cx="476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A27287-DC5B-4D0C-BA38-ED6631C9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267200"/>
            <a:ext cx="453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nombre del compuesto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E972A2-BEF9-4ACD-9901-ED98C255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200525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D2AA00-5CDD-4648-A48F-B84C8D77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267200"/>
            <a:ext cx="4248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SMILES, LogP y fuente del dato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7D6143-4910-4CEB-AFB2-A90D002D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86325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F0FEAF-84F7-4080-9546-00C96AFE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95300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BLASTp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4630C1-B820-4617-B675-D5FCE098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886325"/>
            <a:ext cx="476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03DA92-A78F-4A23-BBC2-C6C385A2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953000"/>
            <a:ext cx="453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secuencia proteica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A081FB-5B78-45E3-B312-E49639F5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886325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C78C9C-879B-466E-A5D9-CE3949A5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953000"/>
            <a:ext cx="4248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homólogos humanos ordenados por e-value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D1B94-F85D-4E54-866F-C0DC798D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102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Si una fuente falla, el pipeline intenta conservar lo que sí pudo extraer en lugar de perder toda la salida.</a:t>
            </a:r>
          </a:p>
        </p:txBody>
      </p:sp>
    </p:spTree>
    <p:extLst>
      <p:ext uri="{BB962C8B-B14F-4D97-AF65-F5344CB8AC3E}">
        <p14:creationId xmlns:p14="http://schemas.microsoft.com/office/powerpoint/2010/main" val="2228352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C343C7-2B77-4C62-A2C8-F0C44C9D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Cómo se lee el JSON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80F4F-C58D-4F4A-BE4B-8F5EBEDB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La salida queda organizada por tipo de información.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8BD33-17D1-4FEC-8C1D-8491380B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B5DFD-1073-46FA-B2C7-AA7B1AAD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F7FFD-CBDC-47A5-842A-62A9CCC0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38375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85F3C-BEA6-447A-9B72-BF179419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79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articulo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5346C-FB97-436D-8CCC-2F85275B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2114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Identificación bibliográfica para saber de qué paper viene el análisis.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0C826-86CA-41A9-AC5C-137A1CC8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38375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721FE-8776-48AC-B0EA-330B2EC2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479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proteinas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375BF-7F0E-488C-AD06-B1348C49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05125"/>
            <a:ext cx="2114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Proteínas aceptadas luego de filtrar candidatos y consultar UniProt.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0FE35-8AA3-4266-B569-88E09B9B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3192F-790B-416A-857E-BF331B15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479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agrotoxicos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9D721-17A3-4E6F-94BC-186A07D4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05125"/>
            <a:ext cx="2114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Compuestos detectados y propiedades químicas completadas con PubChem.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36DCA-0CEF-49B0-B6ED-3F4B18BA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38375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F6790-F3DC-4A6A-9A6B-142A7964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479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homologos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E99BB-5116-49ED-A327-63B30F7D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05125"/>
            <a:ext cx="2114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Hits humanos obtenidos por BLAST cuando hay proteína y secuencia disponible.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EE008-7A70-4A4B-8B76-FE6B51B5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9112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Una lista vacía también informa algo: por ejemplo, que el artículo no contenía proteínas del dominio o que no se pudo validar un candidato.</a:t>
            </a:r>
          </a:p>
        </p:txBody>
      </p:sp>
    </p:spTree>
    <p:extLst>
      <p:ext uri="{BB962C8B-B14F-4D97-AF65-F5344CB8AC3E}">
        <p14:creationId xmlns:p14="http://schemas.microsoft.com/office/powerpoint/2010/main" val="13416685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A99154-9BCC-4E89-B46E-A43E2A3F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Alcance y limitaciones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05655-2F7B-4528-9000-CD3D6AD1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El TP produce una salida útil para revisar, pero no reemplaza curación manual.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678E1-26CB-4D65-96F3-E6C457E0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B8932-722F-47B7-BEA3-25569954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8817A-629E-4362-BB93-F5CA9C1D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7524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Los PDFs pueden venir con texto desordenado, símbolos rotos o tablas difíciles de leer.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El parser usa reglas y vocabularios controlados; no entiende el paper como una persona.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Las APIs externas pueden tardar, fallar o no entregar PDF descargable.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BLAST remoto puede ser lento; para clase conviene usar --skip-blast o BLAST local.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F9BC1-889B-43D1-B504-585CB181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571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B3FF5-229D-4043-B3D7-C94E25FB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Mejoras futuras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2690D-82D4-4617-A1CD-47F525A2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2000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Cache de consultas</a:t>
            </a:r>
          </a:p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Ranking más fino</a:t>
            </a:r>
          </a:p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BindingDB / ChEMBL</a:t>
            </a:r>
          </a:p>
          <a:p xmlns:a="http://schemas.openxmlformats.org/drawingml/2006/main">
            <a:pPr algn="l">
              <a:def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Consulta PDB adicional</a:t>
            </a:r>
          </a:p>
        </p:txBody>
      </p:sp>
    </p:spTree>
    <p:extLst>
      <p:ext uri="{BB962C8B-B14F-4D97-AF65-F5344CB8AC3E}">
        <p14:creationId xmlns:p14="http://schemas.microsoft.com/office/powerpoint/2010/main" val="18692462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1F34B3-AF3A-4D33-AE56-F51130B2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5D1F6-6DBD-4FBB-990D-45CD2BB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38375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Vamos a la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6E33F-CE74-4564-834C-2622AB8D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Ejecutamos un caso y revisamos el JSON generado.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D2D69-55A2-4B33-B209-4F54C212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32722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2026-07-13T19:55:02.5350000Z</dcterms:created>
  <dcterms:modified xsi:type="dcterms:W3CDTF">2026-07-13T19:55:02.5350000Z</dcterms:modified>
</coreProperties>
</file>